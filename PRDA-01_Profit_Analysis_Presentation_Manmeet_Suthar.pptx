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A4DCEB"/>
                </a:solidFill>
                <a:latin typeface="Aptos"/>
              </a:defRPr>
            </a:pPr>
            <a:r>
              <a:t>PRDA-01  | 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424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STARTUP PROFIT</a:t>
            </a:r>
          </a:p>
          <a:p>
            <a:pPr algn="l">
              <a:spcAft>
                <a:spcPts val="7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5760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900" b="0">
                <a:solidFill>
                  <a:srgbClr val="DAE8F0"/>
                </a:solidFill>
                <a:latin typeface="Aptos"/>
              </a:defRPr>
            </a:pPr>
            <a:r>
              <a:t>Linear Regression • Orange Data Mining • Power BI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800600"/>
            <a:ext cx="5029200" cy="960120"/>
          </a:xfrm>
          <a:prstGeom prst="roundRect">
            <a:avLst/>
          </a:prstGeom>
          <a:solidFill>
            <a:srgbClr val="1E4463"/>
          </a:solidFill>
          <a:ln w="15240">
            <a:solidFill>
              <a:srgbClr val="43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8348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Prepared by  Manmeet Suthar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A4DCEB"/>
                </a:solidFill>
                <a:latin typeface="Aptos"/>
              </a:defRPr>
            </a:pPr>
            <a:r>
              <a:t>Profit Analysis and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A small end-to-end workflow for analyzing and predicting startup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35661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926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Explore spending and profit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Build a Linear Regression model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Present results in Power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35661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01168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6032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4313D"/>
                </a:solidFill>
                <a:latin typeface="Aptos"/>
              </a:defRPr>
            </a:pPr>
            <a:r>
              <a:t>•  Project brief describes 50 startups</a:t>
            </a:r>
          </a:p>
          <a:p>
            <a:pPr>
              <a:spcAft>
                <a:spcPts val="1000"/>
              </a:spcAft>
              <a:defRPr sz="1500">
                <a:solidFill>
                  <a:srgbClr val="24313D"/>
                </a:solidFill>
                <a:latin typeface="Aptos"/>
              </a:defRPr>
            </a:pPr>
            <a:r>
              <a:t>•  California, Florida, New York</a:t>
            </a:r>
          </a:p>
          <a:p>
            <a:pPr>
              <a:spcAft>
                <a:spcPts val="1000"/>
              </a:spcAft>
              <a:defRPr sz="1500">
                <a:solidFill>
                  <a:srgbClr val="24313D"/>
                </a:solidFill>
                <a:latin typeface="Aptos"/>
              </a:defRPr>
            </a:pPr>
            <a:r>
              <a:t>•  R&amp;D, Administration, Marketing, State, Profit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520440" cy="35661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926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Orange Data Mining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Power BI Desktop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CSV data / database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52606D"/>
                </a:solidFill>
                <a:latin typeface="Aptos"/>
              </a:defRPr>
            </a:pPr>
            <a:r>
              <a:t>Scope note: the two prediction cases are separate from the original 50-startup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Methodology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From data preparation to model evaluation and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965960" cy="233172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788920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324F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600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4313D"/>
                </a:solidFill>
                <a:latin typeface="Aptos"/>
              </a:defRPr>
            </a:pPr>
            <a:r>
              <a:t>Retrieve data and export/prepare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971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2872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103120"/>
            <a:ext cx="1965960" cy="233172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6392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6392" y="2788920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324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337560"/>
            <a:ext cx="1600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4313D"/>
                </a:solidFill>
                <a:latin typeface="Aptos"/>
              </a:defRPr>
            </a:pPr>
            <a:r>
              <a:t>Use Linear Regression in Orange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971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2872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103120"/>
            <a:ext cx="1965960" cy="233172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22392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788920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324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337560"/>
            <a:ext cx="1600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4313D"/>
                </a:solidFill>
                <a:latin typeface="Aptos"/>
              </a:defRPr>
            </a:pPr>
            <a:r>
              <a:t>Review R², MAE, RMSE, and 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2872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2103120"/>
            <a:ext cx="1965960" cy="233172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8392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2788920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324F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337560"/>
            <a:ext cx="1600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4313D"/>
                </a:solidFill>
                <a:latin typeface="Aptos"/>
              </a:defRPr>
            </a:pPr>
            <a:r>
              <a:t>Score two spending-input 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718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2100" b="1">
                <a:solidFill>
                  <a:srgbClr val="28727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2103120"/>
            <a:ext cx="1965960" cy="233172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94392" y="2331720"/>
            <a:ext cx="1600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4392" y="2788920"/>
            <a:ext cx="1600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16324F"/>
                </a:solidFill>
                <a:latin typeface="Aptos"/>
              </a:defRPr>
            </a:pPr>
            <a:r>
              <a:t>Visualize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337560"/>
            <a:ext cx="1600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24313D"/>
                </a:solidFill>
                <a:latin typeface="Aptos"/>
              </a:defRPr>
            </a:pPr>
            <a:r>
              <a:t>Build two-page Power BI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52606D"/>
                </a:solidFill>
                <a:latin typeface="Aptos"/>
              </a:defRPr>
            </a:pPr>
            <a:r>
              <a:t>Model inputs used for the supplied prediction rows: R&amp;D Spend, Administration, and Marketing Spend.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Dataset &amp;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Fields described in the project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2331720" cy="56692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24F"/>
                </a:solidFill>
                <a:latin typeface="Aptos"/>
              </a:defRPr>
            </a:pPr>
            <a:r>
              <a:t>R&amp;D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801368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4313D"/>
                </a:solidFill>
                <a:latin typeface="Aptos"/>
              </a:defRPr>
            </a:pPr>
            <a:r>
              <a:t>Research and development expenditure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96312"/>
            <a:ext cx="2331720" cy="56692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24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06040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4313D"/>
                </a:solidFill>
                <a:latin typeface="Aptos"/>
              </a:defRPr>
            </a:pPr>
            <a:r>
              <a:t>Administrative expenditure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00984"/>
            <a:ext cx="2331720" cy="56692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410712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24F"/>
                </a:solidFill>
                <a:latin typeface="Aptos"/>
              </a:defRPr>
            </a:pPr>
            <a:r>
              <a:t>Marketing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410712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4313D"/>
                </a:solidFill>
                <a:latin typeface="Aptos"/>
              </a:defRPr>
            </a:pPr>
            <a:r>
              <a:t>Marketing expenditure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05656"/>
            <a:ext cx="2331720" cy="56692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21538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24F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215384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4313D"/>
                </a:solidFill>
                <a:latin typeface="Aptos"/>
              </a:defRPr>
            </a:pPr>
            <a:r>
              <a:t>Startup location category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910328"/>
            <a:ext cx="2331720" cy="56692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20056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16324F"/>
                </a:solidFill>
                <a:latin typeface="Aptos"/>
              </a:defRPr>
            </a:pPr>
            <a:r>
              <a:t>Profit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5020056"/>
            <a:ext cx="7589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4313D"/>
                </a:solidFill>
                <a:latin typeface="Aptos"/>
              </a:defRPr>
            </a:pPr>
            <a:r>
              <a:t>Target variable for 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Dataset details and units should be verified against the original source file before final submission.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Linear Regression: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Reported results from Orange Data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15087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47BA0"/>
                </a:solidFill>
                <a:latin typeface="Aptos"/>
              </a:defRPr>
            </a:pPr>
            <a: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1874519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6324F"/>
                </a:solidFill>
                <a:latin typeface="Aptos"/>
              </a:defRPr>
            </a:pPr>
            <a:r>
              <a:t>0.856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1460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Explains about 85.6% of profit variation on the evaluated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166360" cy="15087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01952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47BA0"/>
                </a:solidFill>
                <a:latin typeface="Aptos"/>
              </a:defRPr>
            </a:pPr>
            <a: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19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6324F"/>
                </a:solidFill>
                <a:latin typeface="Aptos"/>
              </a:defRPr>
            </a:pPr>
            <a:r>
              <a:t>10,719.997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Mean absolute error, in target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166360" cy="15087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1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47BA0"/>
                </a:solidFill>
                <a:latin typeface="Aptos"/>
              </a:defRPr>
            </a:pPr>
            <a:r>
              <a:t>RMSE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37947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6324F"/>
                </a:solidFill>
                <a:latin typeface="Aptos"/>
              </a:defRPr>
            </a:pPr>
            <a:r>
              <a:t>14,911.997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Penalizes larger errors more than MAE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166360" cy="150876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22191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247BA0"/>
                </a:solidFill>
                <a:latin typeface="Aptos"/>
              </a:defRPr>
            </a:pPr>
            <a:r>
              <a:t>MSE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79476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300" b="1">
                <a:solidFill>
                  <a:srgbClr val="16324F"/>
                </a:solidFill>
                <a:latin typeface="Aptos"/>
              </a:defRPr>
            </a:pPr>
            <a:r>
              <a:t>222,367,654.594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434840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Mean squared error, in squared target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1">
                <a:solidFill>
                  <a:srgbClr val="52606D"/>
                </a:solidFill>
                <a:latin typeface="Aptos"/>
              </a:defRPr>
            </a:pPr>
            <a:r>
              <a:t>R² is not prediction accuracy. Interpret metrics alongside the validation method and sample size.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Profit Prediction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Two spending-input cases scored by the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28800"/>
          <a:ext cx="97383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920240"/>
                <a:gridCol w="2240280"/>
                <a:gridCol w="2240280"/>
                <a:gridCol w="1920240"/>
              </a:tblGrid>
              <a:tr h="5334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R&amp;D Spend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Administration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Marketing Spend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Predicted Profit</a:t>
                      </a:r>
                    </a:p>
                  </a:txBody>
                  <a:tcPr>
                    <a:solidFill>
                      <a:srgbClr val="16324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Record 1</a:t>
                      </a:r>
                    </a:p>
                  </a:txBody>
                  <a:tcPr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21,892.92</a:t>
                      </a:r>
                    </a:p>
                  </a:txBody>
                  <a:tcPr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81,910.77</a:t>
                      </a:r>
                    </a:p>
                  </a:txBody>
                  <a:tcPr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164,270.70</a:t>
                      </a:r>
                    </a:p>
                  </a:txBody>
                  <a:tcPr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69,482.13</a:t>
                      </a:r>
                    </a:p>
                  </a:txBody>
                  <a:tcPr>
                    <a:solidFill>
                      <a:srgbClr val="EAF4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Record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23,940.93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96,489.63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137,001.10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4313D"/>
                          </a:solidFill>
                          <a:latin typeface="Aptos"/>
                        </a:defRPr>
                      </a:pPr>
                      <a:r>
                        <a:t>70,825.71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06908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247BA0"/>
                </a:solidFill>
                <a:latin typeface="Aptos"/>
              </a:defRPr>
            </a:pPr>
            <a:r>
              <a:t>Predicted profit difference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4389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3000" b="1">
                <a:solidFill>
                  <a:srgbClr val="16324F"/>
                </a:solidFill>
                <a:latin typeface="Aptos"/>
              </a:defRPr>
            </a:pPr>
            <a:r>
              <a:t>1,343.58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4160520"/>
            <a:ext cx="6217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24313D"/>
                </a:solidFill>
                <a:latin typeface="Aptos"/>
              </a:defRPr>
            </a:pPr>
            <a:r>
              <a:t>Record 2 is predicted 1,343.58 higher than Record 1. These are model estimates, not actual profit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100" b="0">
                <a:solidFill>
                  <a:srgbClr val="52606D"/>
                </a:solidFill>
                <a:latin typeface="Aptos"/>
              </a:defRPr>
            </a:pPr>
            <a:r>
              <a:t>Currency/units were not specified in the provided prediction brief.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Two pages: prediction results and startup profit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5257800" cy="361188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47BA0"/>
                </a:solidFill>
                <a:latin typeface="Aptos"/>
              </a:defRPr>
            </a:pPr>
            <a:r>
              <a:t>PAGE 1  |  PREDICTION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Predicted profit by record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Spending comparison charts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KPI cards and prediction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257800" cy="361188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6596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47BA0"/>
                </a:solidFill>
                <a:latin typeface="Aptos"/>
              </a:defRPr>
            </a:pPr>
            <a:r>
              <a:t>PAGE 2  |  STARTUP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State slicer and profit comparison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R&amp;D Spend vs Profit</a:t>
            </a:r>
          </a:p>
          <a:p>
            <a:pPr>
              <a:spcAft>
                <a:spcPts val="1000"/>
              </a:spcAft>
              <a:defRPr sz="1600">
                <a:solidFill>
                  <a:srgbClr val="24313D"/>
                </a:solidFill>
                <a:latin typeface="Aptos"/>
              </a:defRPr>
            </a:pPr>
            <a:r>
              <a:t>•  Administration and Marketing vs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Add actual screenshots of the final Power BI pages when required for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Visual observations from the Power BI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2286000" cy="65836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46504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6324F"/>
                </a:solidFill>
                <a:latin typeface="Aptos"/>
              </a:defRPr>
            </a:pPr>
            <a:r>
              <a:t>R&amp;D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673352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4313D"/>
                </a:solidFill>
                <a:latin typeface="Aptos"/>
              </a:defRPr>
            </a:pPr>
            <a:r>
              <a:t>The scatter chart appears to show a positive association with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87752"/>
            <a:ext cx="2286000" cy="65836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734056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6324F"/>
                </a:solidFill>
                <a:latin typeface="Aptos"/>
              </a:defRPr>
            </a:pPr>
            <a:r>
              <a:t>Administration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660904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4313D"/>
                </a:solidFill>
                <a:latin typeface="Aptos"/>
              </a:defRPr>
            </a:pPr>
            <a:r>
              <a:t>The points are more dispersed; the relationship is less visually clear.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75304"/>
            <a:ext cx="2286000" cy="65836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721608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6324F"/>
                </a:solidFill>
                <a:latin typeface="Aptos"/>
              </a:defRPr>
            </a:pPr>
            <a:r>
              <a:t>Marketing Spend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648456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4313D"/>
                </a:solidFill>
                <a:latin typeface="Aptos"/>
              </a:defRPr>
            </a:pPr>
            <a:r>
              <a:t>Profit varies across marketing values, with some exceptions.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562856"/>
            <a:ext cx="2286000" cy="658368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70916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16324F"/>
                </a:solidFill>
                <a:latin typeface="Aptos"/>
              </a:defRPr>
            </a:pPr>
            <a:r>
              <a:t>State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636008"/>
            <a:ext cx="7680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24313D"/>
                </a:solidFill>
                <a:latin typeface="Aptos"/>
              </a:defRPr>
            </a:pPr>
            <a:r>
              <a:t>Total profit can be affected by the number of startups in each state.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These are visual observations, not causal conclusions; confirm with calculated statistics from the original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16324F"/>
                </a:solidFill>
                <a:latin typeface="Aptos"/>
              </a:defRPr>
            </a:pPr>
            <a:r>
              <a:t>Recommendations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1097280" cy="54864"/>
          </a:xfrm>
          <a:prstGeom prst="rect">
            <a:avLst/>
          </a:prstGeom>
          <a:solidFill>
            <a:srgbClr val="247BA0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200" b="0">
                <a:solidFill>
                  <a:srgbClr val="52606D"/>
                </a:solidFill>
                <a:latin typeface="Aptos"/>
              </a:defRPr>
            </a:pPr>
            <a:r>
              <a:t>How to strengthen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2606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303520" cy="429768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47BA0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617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Validate with cross-validation or held-out test data</a:t>
            </a:r>
          </a:p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Compare with a simple baseline model</a:t>
            </a:r>
          </a:p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Check missing values, types, and outliers</a:t>
            </a:r>
          </a:p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Compare both total and average profit by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12080" cy="4297680"/>
          </a:xfrm>
          <a:prstGeom prst="roundRect">
            <a:avLst/>
          </a:prstGeom>
          <a:solidFill>
            <a:srgbClr val="EAF4F8"/>
          </a:solidFill>
          <a:ln w="15240">
            <a:solidFill>
              <a:srgbClr val="247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247BA0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526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Only 50 startups are described in the brief</a:t>
            </a:r>
          </a:p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Validation method is not confirmed here</a:t>
            </a:r>
          </a:p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Prediction cases have no actual-profit labels</a:t>
            </a:r>
          </a:p>
          <a:p>
            <a:pPr>
              <a:spcAft>
                <a:spcPts val="1000"/>
              </a:spcAft>
              <a:defRPr sz="1400">
                <a:solidFill>
                  <a:srgbClr val="24313D"/>
                </a:solidFill>
                <a:latin typeface="Aptos"/>
              </a:defRPr>
            </a:pPr>
            <a:r>
              <a:t>•  Currency/units and source data need verification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85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A4DCE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A practical workflow combining machine learning and business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88036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Linear Regression produced two profit estimates.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Power BI presents predictions and spending/profit patterns.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Model performance and business insights should be validated against the original 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486400"/>
            <a:ext cx="4754880" cy="685800"/>
          </a:xfrm>
          <a:prstGeom prst="roundRect">
            <a:avLst/>
          </a:prstGeom>
          <a:solidFill>
            <a:srgbClr val="1E4463"/>
          </a:solidFill>
          <a:ln w="15240">
            <a:solidFill>
              <a:srgbClr val="437E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650992"/>
            <a:ext cx="4297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Thank you  |  Manmeet Suthar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A4DCE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